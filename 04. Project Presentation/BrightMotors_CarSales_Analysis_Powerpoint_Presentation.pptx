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\$#,##0.0&quot;M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BMW</c:v>
                </c:pt>
                <c:pt idx="1">
                  <c:v>Mercedes-benz</c:v>
                </c:pt>
                <c:pt idx="2">
                  <c:v>Ford</c:v>
                </c:pt>
                <c:pt idx="3">
                  <c:v>Nissan</c:v>
                </c:pt>
                <c:pt idx="4">
                  <c:v>Infiniti</c:v>
                </c:pt>
                <c:pt idx="5">
                  <c:v>Chevrolet</c:v>
                </c:pt>
                <c:pt idx="6">
                  <c:v>Toyota</c:v>
                </c:pt>
                <c:pt idx="7">
                  <c:v>Hyundai</c:v>
                </c:pt>
                <c:pt idx="8">
                  <c:v>Honda</c:v>
                </c:pt>
                <c:pt idx="9">
                  <c:v>Kia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87.51</c:v>
                </c:pt>
                <c:pt idx="1">
                  <c:v>66.11</c:v>
                </c:pt>
                <c:pt idx="2">
                  <c:v>63.49</c:v>
                </c:pt>
                <c:pt idx="3">
                  <c:v>58.89</c:v>
                </c:pt>
                <c:pt idx="4">
                  <c:v>53.91</c:v>
                </c:pt>
                <c:pt idx="5">
                  <c:v>33.74</c:v>
                </c:pt>
                <c:pt idx="6">
                  <c:v>27.43</c:v>
                </c:pt>
                <c:pt idx="7">
                  <c:v>26.59</c:v>
                </c:pt>
                <c:pt idx="8">
                  <c:v>26.49</c:v>
                </c:pt>
                <c:pt idx="9">
                  <c:v>15.05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E-49FE-A712-48ADB98FA5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553"/>
              </a:solidFill>
              <a:prstDash val="solid"/>
              <a:round/>
            </a:ln>
          </c:spPr>
        </c:majorGridlines>
        <c:numFmt formatCode="\$#,##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solidFill>
          <a:srgbClr val="0B0F1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Cars Sold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93-4990-894B-E6E8C8B54EBB}"/>
              </c:ext>
            </c:extLst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93-4990-894B-E6E8C8B54EBB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93-4990-894B-E6E8C8B54EBB}"/>
              </c:ext>
            </c:extLst>
          </c:dPt>
          <c:dPt>
            <c:idx val="3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93-4990-894B-E6E8C8B54EBB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93-4990-894B-E6E8C8B54EBB}"/>
              </c:ext>
            </c:extLst>
          </c:dPt>
          <c:dPt>
            <c:idx val="5"/>
            <c:bubble3D val="0"/>
            <c:spPr>
              <a:solidFill>
                <a:srgbClr val="9A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93-4990-894B-E6E8C8B54EB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93-4990-894B-E6E8C8B54EB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93-4990-894B-E6E8C8B54EB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93-4990-894B-E6E8C8B54EB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93-4990-894B-E6E8C8B54EB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193-4990-894B-E6E8C8B54EB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193-4990-894B-E6E8C8B54EB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Sedan</c:v>
                </c:pt>
                <c:pt idx="1">
                  <c:v>SUV</c:v>
                </c:pt>
                <c:pt idx="2">
                  <c:v>Hatchback</c:v>
                </c:pt>
                <c:pt idx="3">
                  <c:v>G Sedan</c:v>
                </c:pt>
                <c:pt idx="4">
                  <c:v>Coupe</c:v>
                </c:pt>
                <c:pt idx="5">
                  <c:v>Minivan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19570</c:v>
                </c:pt>
                <c:pt idx="1">
                  <c:v>7438</c:v>
                </c:pt>
                <c:pt idx="2">
                  <c:v>2130</c:v>
                </c:pt>
                <c:pt idx="3">
                  <c:v>1471</c:v>
                </c:pt>
                <c:pt idx="4">
                  <c:v>1198</c:v>
                </c:pt>
                <c:pt idx="5">
                  <c:v>1041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193-4990-894B-E6E8C8B54E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0B0F1A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Budget</c:v>
                </c:pt>
                <c:pt idx="1">
                  <c:v>Mid Range</c:v>
                </c:pt>
                <c:pt idx="2">
                  <c:v>Luxury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46.07</c:v>
                </c:pt>
                <c:pt idx="1">
                  <c:v>426.06</c:v>
                </c:pt>
                <c:pt idx="2">
                  <c:v>127.24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D0-44D3-B21F-7571BD912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Margin (%)</c:v>
                </c:pt>
              </c:strCache>
            </c:strRef>
          </c:tx>
          <c:spPr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Budget</c:v>
                </c:pt>
                <c:pt idx="1">
                  <c:v>Mid Range</c:v>
                </c:pt>
                <c:pt idx="2">
                  <c:v>Luxury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-32.770000000000003</c:v>
                </c:pt>
                <c:pt idx="1">
                  <c:v>-0.73</c:v>
                </c:pt>
                <c:pt idx="2">
                  <c:v>-0.06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D0-44D3-B21F-7571BD912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55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Revenue ($M)</a:t>
                </a:r>
              </a:p>
            </c:rich>
          </c:tx>
          <c:overlay val="0"/>
        </c:title>
        <c:numFmt formatCode="\$#,##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Avg Margin (%)</a:t>
                </a:r>
              </a:p>
            </c:rich>
          </c:tx>
          <c:overlay val="0"/>
        </c:title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solidFill>
          <a:srgbClr val="0B0F1A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Cars Sold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E5-4E07-B8E7-D909899C725B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E5-4E07-B8E7-D909899C725B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E5-4E07-B8E7-D909899C72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4F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Margin</c:v>
                </c:pt>
                <c:pt idx="1">
                  <c:v>Medium Margin</c:v>
                </c:pt>
                <c:pt idx="2">
                  <c:v>High Margin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33567</c:v>
                </c:pt>
                <c:pt idx="1">
                  <c:v>1980</c:v>
                </c:pt>
                <c:pt idx="2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E5-4E07-B8E7-D909899C72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4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5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996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41A2A"/>
          </a:solidFill>
          <a:ln w="12700">
            <a:solidFill>
              <a:srgbClr val="141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097280"/>
            <a:ext cx="3840480" cy="3840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737360"/>
            <a:ext cx="2560320" cy="2560320"/>
          </a:xfrm>
          <a:prstGeom prst="ellipse">
            <a:avLst/>
          </a:prstGeom>
          <a:solidFill>
            <a:srgbClr val="0B0F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7373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BRIGHTMOTORS CAR SALES ANALYSIS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Profitability Insights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760720"/>
            <a:ext cx="1371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 ·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$599.37M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2441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brands sold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41732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SOLD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18288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35,689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26280" y="2441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across segments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1732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18288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$16,794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66760" y="2441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Volume-weighted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MARGIN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3474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-7.80%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" y="4087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MMR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30632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6280" y="3474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526280" y="4087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$87.51M revenue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66760" y="3474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457200" y="484632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983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generated the highest  revenue, showing strong market demand.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Profit margins remain low across most vehicle categories.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Many vehicles are sold below market value indicating pricing improvement opportunities</a:t>
            </a:r>
            <a:r>
              <a:rPr lang="en-US" sz="1300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PERFORMANCE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Revenue-Generating Brands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535595002"/>
              </p:ext>
            </p:extLst>
          </p:nvPr>
        </p:nvGraphicFramePr>
        <p:xfrm>
          <a:off x="502920" y="1480576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601327"/>
            <a:ext cx="3474720" cy="2353014"/>
          </a:xfrm>
          <a:prstGeom prst="roundRect">
            <a:avLst>
              <a:gd name="adj" fmla="val 2105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800" y="1874520"/>
            <a:ext cx="3291840" cy="1220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BMW, Mercedes-Benz and Ford contribute a significant share of total revenue, indicating strong customer demand for these brands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03920" y="352044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Sales distribution by body type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945943655"/>
              </p:ext>
            </p:extLst>
          </p:nvPr>
        </p:nvGraphicFramePr>
        <p:xfrm>
          <a:off x="187890" y="1417320"/>
          <a:ext cx="575571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34">
            <a:extLst>
              <a:ext uri="{FF2B5EF4-FFF2-40B4-BE49-F238E27FC236}">
                <a16:creationId xmlns:a16="http://schemas.microsoft.com/office/drawing/2014/main" id="{25316BB6-49D1-E638-E422-D7552DA9F8DB}"/>
              </a:ext>
            </a:extLst>
          </p:cNvPr>
          <p:cNvSpPr/>
          <p:nvPr/>
        </p:nvSpPr>
        <p:spPr>
          <a:xfrm>
            <a:off x="6040050" y="1417320"/>
            <a:ext cx="5755710" cy="521208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kern="0" spc="300" dirty="0">
                <a:solidFill>
                  <a:srgbClr val="F59E0B"/>
                </a:solidFill>
                <a:cs typeface="Calibri" pitchFamily="34" charset="-120"/>
              </a:rPr>
              <a:t>Insight</a:t>
            </a:r>
            <a:endParaRPr lang="en-US" dirty="0"/>
          </a:p>
          <a:p>
            <a:endParaRPr lang="en-US" sz="1600" b="1" dirty="0">
              <a:solidFill>
                <a:schemeClr val="accent4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Sedans dominate total sales volume, while SUVs generate higher average selling prices, indicating stronger revenue potential per vehicle.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b="1" kern="0" spc="3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Sedans drive sales volume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SUVs contribute stronger revenue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Customer demand varies significantly across vehicle types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b="1" kern="0" spc="3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b="1" kern="0" spc="300" dirty="0">
                <a:solidFill>
                  <a:srgbClr val="F59E0B"/>
                </a:solidFill>
                <a:latin typeface="Calibri" pitchFamily="34" charset="0"/>
                <a:cs typeface="Calibri" pitchFamily="34" charset="-120"/>
              </a:rPr>
              <a:t>Recommendation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Increase inventory focus on high-performing vehicle categories such as SUVs while maintaining strong availability for high-demand sedans.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Profitability by Price Segment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613986690"/>
              </p:ext>
            </p:extLst>
          </p:nvPr>
        </p:nvGraphicFramePr>
        <p:xfrm>
          <a:off x="457200" y="141732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417320"/>
            <a:ext cx="3474720" cy="4846320"/>
          </a:xfrm>
          <a:prstGeom prst="roundRect">
            <a:avLst>
              <a:gd name="adj" fmla="val 2105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INSIGHT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03920" y="19202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Luxury vehicles deliver stronger profit margins, while budget vehicles contribute significant margin losses.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03920" y="3794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59E0B"/>
                </a:solidFill>
                <a:ea typeface="Calibri" pitchFamily="34" charset="-122"/>
                <a:cs typeface="Calibri" pitchFamily="34" charset="-120"/>
              </a:rPr>
              <a:t>ACTION: </a:t>
            </a:r>
          </a:p>
          <a:p>
            <a:r>
              <a:rPr lang="en-US" sz="1600" dirty="0">
                <a:solidFill>
                  <a:schemeClr val="bg1"/>
                </a:solidFill>
              </a:rPr>
              <a:t>Reduce excessive discounting in budget segments and strengthen pricing controls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&amp; MILEAGE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Impact of Vehicle Condition &amp; Mileage on Profitability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Mileage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r>
              <a:rPr lang="en-US" sz="11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Mileage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1828800"/>
            <a:ext cx="1965960" cy="777240"/>
          </a:xfrm>
          <a:prstGeom prst="rect">
            <a:avLst/>
          </a:prstGeom>
          <a:solidFill>
            <a:srgbClr val="80591B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828800"/>
            <a:ext cx="1965960" cy="777240"/>
          </a:xfrm>
          <a:prstGeom prst="rect">
            <a:avLst/>
          </a:prstGeom>
          <a:solidFill>
            <a:srgbClr val="F59E0B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2.89%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1965960" cy="777240"/>
          </a:xfrm>
          <a:prstGeom prst="rect">
            <a:avLst/>
          </a:prstGeom>
          <a:solidFill>
            <a:srgbClr val="151A2A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828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2651760"/>
            <a:ext cx="1965960" cy="777240"/>
          </a:xfrm>
          <a:prstGeom prst="rect">
            <a:avLst/>
          </a:prstGeom>
          <a:solidFill>
            <a:srgbClr val="171B2A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6517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-0.66%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0" y="2651760"/>
            <a:ext cx="1965960" cy="777240"/>
          </a:xfrm>
          <a:prstGeom prst="rect">
            <a:avLst/>
          </a:prstGeom>
          <a:solidFill>
            <a:srgbClr val="AF7515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6517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2651760"/>
            <a:ext cx="1965960" cy="777240"/>
          </a:xfrm>
          <a:prstGeom prst="rect">
            <a:avLst/>
          </a:prstGeom>
          <a:solidFill>
            <a:srgbClr val="291E2D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6517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-4.94%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0" y="3474720"/>
            <a:ext cx="1965960" cy="777240"/>
          </a:xfrm>
          <a:prstGeom prst="rect">
            <a:avLst/>
          </a:prstGeom>
          <a:solidFill>
            <a:srgbClr val="35202E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474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-7.72%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840480" y="3474720"/>
            <a:ext cx="1965960" cy="777240"/>
          </a:xfrm>
          <a:prstGeom prst="rect">
            <a:avLst/>
          </a:prstGeom>
          <a:solidFill>
            <a:srgbClr val="211C2C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474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-2.98%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52160" y="3474720"/>
            <a:ext cx="1965960" cy="777240"/>
          </a:xfrm>
          <a:prstGeom prst="rect">
            <a:avLst/>
          </a:prstGeom>
          <a:solidFill>
            <a:srgbClr val="5A2832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474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-16.36%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0" y="4297680"/>
            <a:ext cx="1965960" cy="777240"/>
          </a:xfrm>
          <a:prstGeom prst="rect">
            <a:avLst/>
          </a:prstGeom>
          <a:solidFill>
            <a:srgbClr val="AD373C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42976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-35.57%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40480" y="4297680"/>
            <a:ext cx="1965960" cy="777240"/>
          </a:xfrm>
          <a:prstGeom prst="rect">
            <a:avLst/>
          </a:prstGeom>
          <a:solidFill>
            <a:srgbClr val="742C35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42976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-22.40%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52160" y="4297680"/>
            <a:ext cx="1965960" cy="777240"/>
          </a:xfrm>
          <a:prstGeom prst="rect">
            <a:avLst/>
          </a:prstGeom>
          <a:solidFill>
            <a:srgbClr val="EF4444"/>
          </a:solidFill>
          <a:ln w="6350">
            <a:solidFill>
              <a:srgbClr val="2A35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42976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-50.87%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41A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16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US" sz="16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Vehicles in excellent condition with lower mileage generate stronger profit margins.</a:t>
            </a:r>
          </a:p>
          <a:p>
            <a:endParaRPr lang="en-US" sz="16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b="1" kern="0" spc="300" dirty="0">
                <a:solidFill>
                  <a:srgbClr val="F59E0B"/>
                </a:solidFill>
                <a:latin typeface="Calibri" pitchFamily="34" charset="0"/>
                <a:ea typeface="Calibri" panose="020F0502020204030204" pitchFamily="34" charset="0"/>
                <a:cs typeface="Calibri" pitchFamily="34" charset="-120"/>
              </a:rPr>
              <a:t>Recommendation: </a:t>
            </a:r>
            <a:r>
              <a:rPr lang="en-US" sz="1600" kern="0" spc="300" dirty="0">
                <a:solidFill>
                  <a:schemeClr val="bg1"/>
                </a:solidFill>
                <a:latin typeface="Calibri" pitchFamily="34" charset="0"/>
                <a:ea typeface="Calibri" panose="020F0502020204030204" pitchFamily="34" charset="0"/>
                <a:cs typeface="Calibri" pitchFamily="34" charset="-120"/>
              </a:rPr>
              <a:t>Prioritize</a:t>
            </a:r>
            <a:r>
              <a:rPr lang="en-US" sz="16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sourcing low-mileage vehicles in good or excellent condition.</a:t>
            </a:r>
          </a:p>
          <a:p>
            <a:endParaRPr lang="en-US" sz="11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DISTRIBUTION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Profit Margin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091154571"/>
              </p:ext>
            </p:extLst>
          </p:nvPr>
        </p:nvGraphicFramePr>
        <p:xfrm>
          <a:off x="457200" y="141732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65757" y="1488823"/>
            <a:ext cx="3474720" cy="1493520"/>
          </a:xfrm>
          <a:prstGeom prst="roundRect">
            <a:avLst>
              <a:gd name="adj" fmla="val 4898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5320" y="1417320"/>
            <a:ext cx="73152" cy="1493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1554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F4444"/>
                </a:solidFill>
                <a:latin typeface="Calibri" pitchFamily="34" charset="0"/>
                <a:cs typeface="Calibri" pitchFamily="34" charset="-120"/>
              </a:rPr>
              <a:t>Insigh</a:t>
            </a: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157276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 vehicle sales fall within low-margin categories, limiting overall profitability.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0392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49224" y="3668143"/>
            <a:ext cx="3474720" cy="1493520"/>
          </a:xfrm>
          <a:prstGeom prst="roundRect">
            <a:avLst>
              <a:gd name="adj" fmla="val 4898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8256280" y="3688080"/>
            <a:ext cx="73152" cy="1493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3881746"/>
            <a:ext cx="3108960" cy="479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b="1" kern="0" spc="300" dirty="0">
              <a:solidFill>
                <a:srgbClr val="F59E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0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</a:p>
          <a:p>
            <a:endParaRPr lang="en-US" sz="1200" b="1" kern="0" spc="300" dirty="0">
              <a:solidFill>
                <a:srgbClr val="F59E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on improving pricing strategy and increasing high-margin inventory.</a:t>
            </a:r>
          </a:p>
          <a:p>
            <a:pPr marL="0" indent="0">
              <a:buNone/>
            </a:pPr>
            <a:endParaRPr lang="en-US" sz="1000" b="1" kern="0" spc="300" dirty="0">
              <a:solidFill>
                <a:srgbClr val="F59E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03920" y="3505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503920" y="4053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03920" y="490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503920" y="5181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503920" y="573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&amp; least profitable Body × Price segments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623560" cy="4023360"/>
          </a:xfrm>
          <a:prstGeom prst="roundRect">
            <a:avLst>
              <a:gd name="adj" fmla="val 1509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6235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PROFITABLE SEGMENTS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507492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Cab · 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SuperCab · Mid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$20,515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Cab · Mid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Cab · Mid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$24,725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 · Mid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$13,496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126480" y="1417320"/>
            <a:ext cx="5623560" cy="4023360"/>
          </a:xfrm>
          <a:prstGeom prst="roundRect">
            <a:avLst>
              <a:gd name="adj" fmla="val 1509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1417320"/>
            <a:ext cx="56235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4173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UNDERPERFORMING SEGMENTS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11680"/>
          <a:ext cx="507492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9A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Coupe ·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-62.76%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Cab ·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Cab ·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SuperCab ·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-40.31%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 ·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2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87458F-BA23-26C9-2CE2-2E269993F2E5}"/>
              </a:ext>
            </a:extLst>
          </p:cNvPr>
          <p:cNvSpPr txBox="1"/>
          <p:nvPr/>
        </p:nvSpPr>
        <p:spPr>
          <a:xfrm>
            <a:off x="300625" y="5669279"/>
            <a:ext cx="11449415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Insight: 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Mid-range truck segments perform well, while budget vehicle segments consistently generate losses.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18DA19-E517-9E63-3804-C55A8CF1342F}"/>
              </a:ext>
            </a:extLst>
          </p:cNvPr>
          <p:cNvSpPr txBox="1"/>
          <p:nvPr/>
        </p:nvSpPr>
        <p:spPr>
          <a:xfrm>
            <a:off x="5924186" y="5663273"/>
            <a:ext cx="598242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0A335-5D2D-6367-9A9A-20A30DDE950F}"/>
              </a:ext>
            </a:extLst>
          </p:cNvPr>
          <p:cNvSpPr txBox="1"/>
          <p:nvPr/>
        </p:nvSpPr>
        <p:spPr>
          <a:xfrm>
            <a:off x="300625" y="6028095"/>
            <a:ext cx="10697226" cy="777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600" b="1" kern="100" dirty="0">
              <a:solidFill>
                <a:schemeClr val="accent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Recommendation</a:t>
            </a:r>
            <a:r>
              <a:rPr lang="en-US" sz="1600" b="1" kern="1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exposure to low-performing budget segments and prioritize profitable categories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9164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Strengthen High-Performing Brands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2860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cs typeface="Calibri" pitchFamily="34" charset="-120"/>
              </a:rPr>
              <a:t>Focus inventory and marketing investment on top revenue-generating brands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691640"/>
            <a:ext cx="868680" cy="8686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91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F4F8"/>
                </a:solidFill>
                <a:latin typeface="Calibri" pitchFamily="34" charset="0"/>
                <a:cs typeface="Calibri" pitchFamily="34" charset="-120"/>
              </a:rPr>
              <a:t>Improve Pricing Strategy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0" y="22860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cs typeface="Calibri" pitchFamily="34" charset="-120"/>
              </a:rPr>
              <a:t>Reduce unnecessary discounting in low margin segments.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60520"/>
            <a:ext cx="868680" cy="868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60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8308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Quality Inventory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83080" y="4754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cs typeface="Calibri" pitchFamily="34" charset="-120"/>
              </a:rPr>
              <a:t>Increase sourcing of low mileage vehicles in excellent conditions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88620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141A2A"/>
          </a:solidFill>
          <a:ln w="12700">
            <a:solidFill>
              <a:srgbClr val="2A35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4160520"/>
            <a:ext cx="868680" cy="8686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160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Low-Performing Inventory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89520" y="4754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cs typeface="Calibri" pitchFamily="34" charset="-120"/>
              </a:rPr>
              <a:t>Limit investment in consistently unprofitable vehicle segments.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06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available for interactive analysis and filtering.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569</Words>
  <Application>Microsoft Office PowerPoint</Application>
  <PresentationFormat>Widescreen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BrightMotors Car Sales Analysis</dc:title>
  <dc:subject>PptxGenJS Presentation</dc:subject>
  <dc:creator>PptxGenJS</dc:creator>
  <cp:lastModifiedBy>Letween Tumbare</cp:lastModifiedBy>
  <cp:revision>2</cp:revision>
  <dcterms:created xsi:type="dcterms:W3CDTF">2026-04-24T22:45:46Z</dcterms:created>
  <dcterms:modified xsi:type="dcterms:W3CDTF">2026-04-29T22:35:07Z</dcterms:modified>
</cp:coreProperties>
</file>